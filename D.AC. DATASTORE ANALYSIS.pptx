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21"/>
  </p:notesMasterIdLst>
  <p:handoutMasterIdLst>
    <p:handoutMasterId r:id="rId22"/>
  </p:handoutMasterIdLst>
  <p:sldIdLst>
    <p:sldId id="1865" r:id="rId5"/>
    <p:sldId id="1846" r:id="rId6"/>
    <p:sldId id="1870" r:id="rId7"/>
    <p:sldId id="1871" r:id="rId8"/>
    <p:sldId id="1869" r:id="rId9"/>
    <p:sldId id="1866" r:id="rId10"/>
    <p:sldId id="1874" r:id="rId11"/>
    <p:sldId id="1875" r:id="rId12"/>
    <p:sldId id="1876" r:id="rId13"/>
    <p:sldId id="1877" r:id="rId14"/>
    <p:sldId id="1878" r:id="rId15"/>
    <p:sldId id="1879" r:id="rId16"/>
    <p:sldId id="1872" r:id="rId17"/>
    <p:sldId id="1880" r:id="rId18"/>
    <p:sldId id="1881" r:id="rId19"/>
    <p:sldId id="1882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7C2A"/>
    <a:srgbClr val="F69000"/>
    <a:srgbClr val="458D45"/>
    <a:srgbClr val="51A551"/>
    <a:srgbClr val="FF2625"/>
    <a:srgbClr val="007788"/>
    <a:srgbClr val="FE4387"/>
    <a:srgbClr val="01C2D1"/>
    <a:srgbClr val="D6D734"/>
    <a:srgbClr val="005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724" autoAdjust="0"/>
  </p:normalViewPr>
  <p:slideViewPr>
    <p:cSldViewPr snapToGrid="0">
      <p:cViewPr>
        <p:scale>
          <a:sx n="71" d="100"/>
          <a:sy n="71" d="100"/>
        </p:scale>
        <p:origin x="684" y="60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934B4-D7B5-42D7-9F88-980F37F4D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8EB6F-24B8-4AD2-85F1-8E8D779B78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893F8-1FF0-494F-B88B-AFD387AA3943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993E5-620A-43E2-8EE6-6DE6399D62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257E0-AE53-4482-80FF-3BB9442398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69C4D-B904-4BBF-BB02-416BB3903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22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55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Green, yellow, black and white tartan">
            <a:extLst>
              <a:ext uri="{FF2B5EF4-FFF2-40B4-BE49-F238E27FC236}">
                <a16:creationId xmlns:a16="http://schemas.microsoft.com/office/drawing/2014/main" id="{99E2DEE3-7335-4BA9-87A2-5AC14A7EF9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28239"/>
            <a:ext cx="12192000" cy="185720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10" descr="Green, yellow, black and white tartan">
            <a:extLst>
              <a:ext uri="{FF2B5EF4-FFF2-40B4-BE49-F238E27FC236}">
                <a16:creationId xmlns:a16="http://schemas.microsoft.com/office/drawing/2014/main" id="{1731029F-3C34-499C-982F-5B42D51B47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" r="23"/>
          <a:stretch/>
        </p:blipFill>
        <p:spPr>
          <a:xfrm>
            <a:off x="7859486" y="0"/>
            <a:ext cx="4332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Opaque white stripes background">
            <a:extLst>
              <a:ext uri="{FF2B5EF4-FFF2-40B4-BE49-F238E27FC236}">
                <a16:creationId xmlns:a16="http://schemas.microsoft.com/office/drawing/2014/main" id="{D128951E-5030-4C5A-B68A-CD8DD1F7F6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hot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CCC0B9-F174-4BEA-B4A2-17F39F974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2"/>
            <a:ext cx="5334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tabLst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B1932CF-F265-4AEE-8704-F42C01AFB4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715963"/>
            <a:ext cx="4572000" cy="446563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>
            <a:lvl1pPr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Placeholder 8" descr="Green, yellow, black and white tartan">
            <a:extLst>
              <a:ext uri="{FF2B5EF4-FFF2-40B4-BE49-F238E27FC236}">
                <a16:creationId xmlns:a16="http://schemas.microsoft.com/office/drawing/2014/main" id="{0F2C2CA1-3BA3-4744-B86C-86CFC19D08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8" r="108"/>
          <a:stretch/>
        </p:blipFill>
        <p:spPr>
          <a:xfrm>
            <a:off x="0" y="5972174"/>
            <a:ext cx="121920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4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5ED86-A26C-479A-8393-0BFDCBCD43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507727"/>
            <a:ext cx="10668000" cy="1111648"/>
          </a:xfrm>
          <a:prstGeom prst="rect">
            <a:avLst/>
          </a:prstGeom>
          <a:noFill/>
        </p:spPr>
        <p:txBody>
          <a:bodyPr wrap="square" lIns="91440" tIns="0" rIns="9144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276AE57A-004D-45B8-95EB-CEA4D8CD000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762000" y="2608489"/>
            <a:ext cx="10668000" cy="2806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Insert table here</a:t>
            </a:r>
          </a:p>
        </p:txBody>
      </p:sp>
      <p:pic>
        <p:nvPicPr>
          <p:cNvPr id="6" name="Picture Placeholder 11" descr="Green, yellow, black and white tartan">
            <a:extLst>
              <a:ext uri="{FF2B5EF4-FFF2-40B4-BE49-F238E27FC236}">
                <a16:creationId xmlns:a16="http://schemas.microsoft.com/office/drawing/2014/main" id="{DDE30C9B-25D9-452A-A58A-94AF1FB71F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4" r="1484"/>
          <a:stretch/>
        </p:blipFill>
        <p:spPr>
          <a:xfrm>
            <a:off x="0" y="5972174"/>
            <a:ext cx="121920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0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7" descr="Green, yellow, black and white tartan">
            <a:extLst>
              <a:ext uri="{FF2B5EF4-FFF2-40B4-BE49-F238E27FC236}">
                <a16:creationId xmlns:a16="http://schemas.microsoft.com/office/drawing/2014/main" id="{A370CEF3-4A54-4DA4-9EB1-26D855A70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" r="23"/>
          <a:stretch/>
        </p:blipFill>
        <p:spPr>
          <a:xfrm>
            <a:off x="0" y="0"/>
            <a:ext cx="4332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5ED86-A26C-479A-8393-0BFDCBCD43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507727"/>
            <a:ext cx="10668000" cy="822457"/>
          </a:xfrm>
          <a:prstGeom prst="rect">
            <a:avLst/>
          </a:prstGeom>
          <a:noFill/>
        </p:spPr>
        <p:txBody>
          <a:bodyPr wrap="square" lIns="91440" tIns="0" rIns="9144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830F1EE-0A1B-434F-BF70-A0FE7F06E45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2000" y="2330184"/>
            <a:ext cx="10668000" cy="335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7" descr="Green, yellow, black and white tartan">
            <a:extLst>
              <a:ext uri="{FF2B5EF4-FFF2-40B4-BE49-F238E27FC236}">
                <a16:creationId xmlns:a16="http://schemas.microsoft.com/office/drawing/2014/main" id="{537346BD-CF82-49B2-97B6-80A3000DD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4" r="1484"/>
          <a:stretch/>
        </p:blipFill>
        <p:spPr>
          <a:xfrm>
            <a:off x="0" y="5972174"/>
            <a:ext cx="121920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19386"/>
            <a:ext cx="4572000" cy="2362200"/>
          </a:xfrm>
          <a:prstGeom prst="rect">
            <a:avLst/>
          </a:prstGeom>
          <a:solidFill>
            <a:schemeClr val="accent2"/>
          </a:solidFill>
        </p:spPr>
        <p:txBody>
          <a:bodyPr>
            <a:normAutofit/>
          </a:bodyPr>
          <a:lstStyle>
            <a:lvl1pPr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10" descr="Green, yellow, black and white tartan">
            <a:extLst>
              <a:ext uri="{FF2B5EF4-FFF2-40B4-BE49-F238E27FC236}">
                <a16:creationId xmlns:a16="http://schemas.microsoft.com/office/drawing/2014/main" id="{254DE245-A48A-4FD4-B53E-DBF8C64B4F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40" r="1140"/>
          <a:stretch/>
        </p:blipFill>
        <p:spPr>
          <a:xfrm>
            <a:off x="0" y="5972174"/>
            <a:ext cx="121920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Opaque white background">
            <a:extLst>
              <a:ext uri="{FF2B5EF4-FFF2-40B4-BE49-F238E27FC236}">
                <a16:creationId xmlns:a16="http://schemas.microsoft.com/office/drawing/2014/main" id="{67950A00-B9D0-43DE-A195-32DC0E2C67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2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7" name="Picture Placeholder 7" descr="Green, yellow, black and white tartan">
            <a:extLst>
              <a:ext uri="{FF2B5EF4-FFF2-40B4-BE49-F238E27FC236}">
                <a16:creationId xmlns:a16="http://schemas.microsoft.com/office/drawing/2014/main" id="{E4C06687-B8B5-493E-ACBB-4AFE15C965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8" r="108"/>
          <a:stretch/>
        </p:blipFill>
        <p:spPr>
          <a:xfrm>
            <a:off x="0" y="5972174"/>
            <a:ext cx="121920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88" r:id="rId4"/>
    <p:sldLayoutId id="2147483704" r:id="rId5"/>
    <p:sldLayoutId id="2147483701" r:id="rId6"/>
    <p:sldLayoutId id="2147483691" r:id="rId7"/>
    <p:sldLayoutId id="2147483702" r:id="rId8"/>
    <p:sldLayoutId id="2147483703" r:id="rId9"/>
    <p:sldLayoutId id="214748369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428239"/>
            <a:ext cx="12192000" cy="1857205"/>
          </a:xfrm>
        </p:spPr>
        <p:txBody>
          <a:bodyPr anchor="ctr">
            <a:noAutofit/>
          </a:bodyPr>
          <a:lstStyle/>
          <a:p>
            <a:r>
              <a:rPr lang="en-US" altLang="en-US" sz="6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D.A.C</a:t>
            </a:r>
            <a:r>
              <a:rPr lang="en-US" altLang="en-US" sz="6000" dirty="0">
                <a:latin typeface="Amasis MT Pro Black" panose="02040A04050005020304" pitchFamily="18" charset="0"/>
              </a:rPr>
              <a:t> </a:t>
            </a:r>
            <a:r>
              <a:rPr lang="en-US" altLang="en-US" sz="6000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DATASTORE</a:t>
            </a:r>
            <a:r>
              <a:rPr lang="en-US" altLang="en-US" sz="6000" dirty="0">
                <a:latin typeface="Amasis MT Pro Black" panose="02040A04050005020304" pitchFamily="18" charset="0"/>
              </a:rPr>
              <a:t>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E3A279-6E4B-FD4E-6FCA-9F5B2AFC4440}"/>
              </a:ext>
            </a:extLst>
          </p:cNvPr>
          <p:cNvSpPr txBox="1">
            <a:spLocks noChangeArrowheads="1"/>
          </p:cNvSpPr>
          <p:nvPr/>
        </p:nvSpPr>
        <p:spPr>
          <a:xfrm>
            <a:off x="1701053" y="3767130"/>
            <a:ext cx="8789893" cy="1036627"/>
          </a:xfrm>
          <a:prstGeom prst="rect">
            <a:avLst/>
          </a:prstGeom>
          <a:solidFill>
            <a:srgbClr val="F69000"/>
          </a:solidFill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4000" dirty="0">
                <a:latin typeface="Amasis MT Pro Black" panose="02040A04050005020304" pitchFamily="18" charset="0"/>
              </a:rPr>
              <a:t>SALES ANALYSIS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CC8B3E-FF1A-D2AE-84A6-A066144AA09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333565"/>
            <a:ext cx="12191999" cy="524435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2800" dirty="0">
                <a:solidFill>
                  <a:srgbClr val="297C2A"/>
                </a:solidFill>
                <a:latin typeface="Amasis MT Pro Black" panose="02040A04050005020304" pitchFamily="18" charset="0"/>
              </a:rPr>
              <a:t>OGINNI O. ADEKOLA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C3F0B5C-4752-2386-01FE-40D804A5422E}"/>
              </a:ext>
            </a:extLst>
          </p:cNvPr>
          <p:cNvSpPr txBox="1">
            <a:spLocks noChangeArrowheads="1"/>
          </p:cNvSpPr>
          <p:nvPr/>
        </p:nvSpPr>
        <p:spPr>
          <a:xfrm>
            <a:off x="2070846" y="5624335"/>
            <a:ext cx="8050306" cy="524435"/>
          </a:xfrm>
          <a:prstGeom prst="rect">
            <a:avLst/>
          </a:prstGeom>
          <a:solidFill>
            <a:srgbClr val="297C2A"/>
          </a:solidFill>
          <a:ln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DESIGNED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347CBFB-C22D-184B-78F6-A915B2AEBFFE}"/>
              </a:ext>
            </a:extLst>
          </p:cNvPr>
          <p:cNvSpPr txBox="1">
            <a:spLocks noChangeArrowheads="1"/>
          </p:cNvSpPr>
          <p:nvPr/>
        </p:nvSpPr>
        <p:spPr>
          <a:xfrm>
            <a:off x="5168152" y="6048519"/>
            <a:ext cx="1851213" cy="290752"/>
          </a:xfrm>
          <a:prstGeom prst="rect">
            <a:avLst/>
          </a:prstGeom>
          <a:solidFill>
            <a:srgbClr val="297C2A"/>
          </a:solidFill>
          <a:ln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en-US" sz="1800" dirty="0">
                <a:solidFill>
                  <a:schemeClr val="bg1"/>
                </a:solidFill>
                <a:latin typeface="Amasis MT Pro Black" panose="02040A04050005020304" pitchFamily="18" charset="0"/>
              </a:rPr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407469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Introduction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4999"/>
            <a:ext cx="6477000" cy="4361329"/>
          </a:xfrm>
        </p:spPr>
        <p:txBody>
          <a:bodyPr/>
          <a:lstStyle/>
          <a:p>
            <a:r>
              <a:rPr lang="en-US" altLang="en-US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D.AC. DATASTORE is an offline retail stores where customers purchase products across the following categories across various cities in India:</a:t>
            </a:r>
          </a:p>
          <a:p>
            <a:endParaRPr lang="en-US" altLang="en-US" dirty="0">
              <a:latin typeface="Amasis MT Pro Black" panose="02040A04050005020304" pitchFamily="18" charset="0"/>
              <a:cs typeface="Cascadia Code SemiBold" panose="020B06090200000200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Footwear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Clothing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Home Appliances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Kitchenware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Bags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Personal Care Products</a:t>
            </a:r>
            <a:endParaRPr lang="en-US" sz="1600" b="0" dirty="0">
              <a:latin typeface="Amasis MT Pro Black" panose="02040A04050005020304" pitchFamily="18" charset="0"/>
              <a:cs typeface="Cascadia Code SemiBold" panose="020B0609020000020004" pitchFamily="49" charset="0"/>
            </a:endParaRPr>
          </a:p>
          <a:p>
            <a:endParaRPr lang="en-US" altLang="en-US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7D7B-3A55-F6DE-5B11-6B8A0992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74F999-7251-8F07-95A3-3F6250CB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Problem Statement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43BF4E-3209-2319-4B95-EAEEAB9635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3635"/>
            <a:ext cx="6477000" cy="4398403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To uncover opportunities to improve profitability is so challenging and without a data-driven analysis of sales trends, product demand, and promotion performance, decision-makers may struggle to allocate resources effectively and maximize opportunities for business growth.</a:t>
            </a:r>
            <a:endParaRPr lang="en-US" altLang="en-US" sz="22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3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4E6E-653E-9CFB-17EF-8C376EC9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E38EA6-8257-7CB5-63B8-4CF6CD2D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817004"/>
          </a:xfrm>
        </p:spPr>
        <p:txBody>
          <a:bodyPr/>
          <a:lstStyle/>
          <a:p>
            <a:r>
              <a:rPr lang="en-US" sz="3600" dirty="0">
                <a:latin typeface="Amasis MT Pro Black" panose="02040A04050005020304" pitchFamily="18" charset="0"/>
              </a:rPr>
              <a:t>Key Questions to Answer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9A3019-A2A5-6CCD-6265-276E05C854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532965"/>
            <a:ext cx="6477000" cy="4719917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the top 5 and bottom 5 products based on sales, profit, or quantity sold.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how sales change over time — daily, monthly, quarterly, and yearly trends.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the relationship between sales and profit.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Compare sales, profit, and quantity sold between any two time periods the user picks.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the average discount given for each discount category.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the total number of orders.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all order details like sales, profit, discount, net sales, and other fields. Users should be able to filter this by product, date, customer ID, and promotion categories. </a:t>
            </a:r>
          </a:p>
          <a:p>
            <a:pPr marL="457200" indent="-457200" algn="just">
              <a:buAutoNum type="arabicPeriod"/>
            </a:pPr>
            <a:r>
              <a:rPr lang="en-US" altLang="en-US" sz="1600" dirty="0">
                <a:latin typeface="Amasis MT Pro Black" panose="02040A04050005020304" pitchFamily="18" charset="0"/>
              </a:rPr>
              <a:t>Show sales broken down by different cities.</a:t>
            </a:r>
          </a:p>
        </p:txBody>
      </p:sp>
    </p:spTree>
    <p:extLst>
      <p:ext uri="{BB962C8B-B14F-4D97-AF65-F5344CB8AC3E}">
        <p14:creationId xmlns:p14="http://schemas.microsoft.com/office/powerpoint/2010/main" val="261481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5710-94F8-0EE9-7876-3B616E86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27D54-98CA-0F50-FDC7-C9E266D1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Objectives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0C123C-5F4A-7932-7A78-B874EC8366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3635"/>
            <a:ext cx="6477000" cy="4398403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>
                <a:latin typeface="Amasis MT Pro Black" panose="02040A04050005020304" pitchFamily="18" charset="0"/>
                <a:cs typeface="Cascadia Code SemiBold" panose="020B0609020000020004" pitchFamily="49" charset="0"/>
              </a:rPr>
              <a:t> To analyze overall sales performance and trends across all products.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>
                <a:latin typeface="Amasis MT Pro Black" panose="02040A04050005020304" pitchFamily="18" charset="0"/>
              </a:rPr>
              <a:t>To identify best promotion category to increase sales and profitability.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>
                <a:latin typeface="Amasis MT Pro Black" panose="02040A04050005020304" pitchFamily="18" charset="0"/>
              </a:rPr>
              <a:t>To identify the best-demanding and least-demanding products.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200" dirty="0">
                <a:latin typeface="Amasis MT Pro Black" panose="02040A04050005020304" pitchFamily="18" charset="0"/>
              </a:rPr>
              <a:t>To identify opportunities to increase sales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93313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507CCF7-352C-560C-208A-DC625C72CEE3}"/>
              </a:ext>
            </a:extLst>
          </p:cNvPr>
          <p:cNvSpPr/>
          <p:nvPr/>
        </p:nvSpPr>
        <p:spPr>
          <a:xfrm>
            <a:off x="870819" y="1678797"/>
            <a:ext cx="2379644" cy="1160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Dim Customer: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7 Columns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50 Records</a:t>
            </a:r>
            <a:endParaRPr lang="en-US" alt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4C422FE4-9DEF-730B-FA6C-131192E6B16F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Data Overview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166C474-C0F4-CC9D-BB2F-773EFC3A0095}"/>
              </a:ext>
            </a:extLst>
          </p:cNvPr>
          <p:cNvSpPr txBox="1">
            <a:spLocks/>
          </p:cNvSpPr>
          <p:nvPr/>
        </p:nvSpPr>
        <p:spPr>
          <a:xfrm>
            <a:off x="762000" y="1226740"/>
            <a:ext cx="2642699" cy="4404520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Table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3A2772-04F5-D508-D41F-8EE74AA6C453}"/>
              </a:ext>
            </a:extLst>
          </p:cNvPr>
          <p:cNvSpPr/>
          <p:nvPr/>
        </p:nvSpPr>
        <p:spPr>
          <a:xfrm>
            <a:off x="893527" y="2997824"/>
            <a:ext cx="2379644" cy="1703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Key Fields: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Customer ID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Customer Name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City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State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06CA57-55C1-4AAE-A013-5B789DEC400B}"/>
              </a:ext>
            </a:extLst>
          </p:cNvPr>
          <p:cNvSpPr/>
          <p:nvPr/>
        </p:nvSpPr>
        <p:spPr>
          <a:xfrm>
            <a:off x="3622337" y="1675739"/>
            <a:ext cx="2379644" cy="1160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Dim Product: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4 Columns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30 Records</a:t>
            </a:r>
            <a:endParaRPr lang="en-US" alt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CF52465E-3370-9809-AAD5-C72332A8B9C9}"/>
              </a:ext>
            </a:extLst>
          </p:cNvPr>
          <p:cNvSpPr txBox="1">
            <a:spLocks/>
          </p:cNvSpPr>
          <p:nvPr/>
        </p:nvSpPr>
        <p:spPr>
          <a:xfrm>
            <a:off x="3513518" y="1223682"/>
            <a:ext cx="2642699" cy="4404520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Table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BC2191-6CA3-6D6B-E780-070FAC9241CC}"/>
              </a:ext>
            </a:extLst>
          </p:cNvPr>
          <p:cNvSpPr/>
          <p:nvPr/>
        </p:nvSpPr>
        <p:spPr>
          <a:xfrm>
            <a:off x="3645045" y="2994766"/>
            <a:ext cx="2379644" cy="17033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Key Fields: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Product ID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Product Name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Product Line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34C582-01DF-8B8B-423F-909340FD6BF3}"/>
              </a:ext>
            </a:extLst>
          </p:cNvPr>
          <p:cNvSpPr/>
          <p:nvPr/>
        </p:nvSpPr>
        <p:spPr>
          <a:xfrm>
            <a:off x="6373855" y="1675739"/>
            <a:ext cx="2379644" cy="1160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Dim Promotion: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6 Columns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5 Records</a:t>
            </a:r>
            <a:endParaRPr lang="en-US" alt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19521B0-D93F-FEBD-0A85-2FCAFCA3AD57}"/>
              </a:ext>
            </a:extLst>
          </p:cNvPr>
          <p:cNvSpPr txBox="1">
            <a:spLocks/>
          </p:cNvSpPr>
          <p:nvPr/>
        </p:nvSpPr>
        <p:spPr>
          <a:xfrm>
            <a:off x="6265036" y="1223682"/>
            <a:ext cx="2642699" cy="4404520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Table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5971CD-E30F-849C-09E0-4789E8E9ABB2}"/>
              </a:ext>
            </a:extLst>
          </p:cNvPr>
          <p:cNvSpPr/>
          <p:nvPr/>
        </p:nvSpPr>
        <p:spPr>
          <a:xfrm>
            <a:off x="6396563" y="2994765"/>
            <a:ext cx="2379644" cy="19407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Key Fields: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Promotion ID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Promotion Name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Promotion Percentage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</a:pPr>
            <a:endParaRPr lang="en-US" altLang="en-US" sz="1400" dirty="0">
              <a:solidFill>
                <a:schemeClr val="accent3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8C5F86-169B-633E-3A44-E0DB0B64B67B}"/>
              </a:ext>
            </a:extLst>
          </p:cNvPr>
          <p:cNvSpPr/>
          <p:nvPr/>
        </p:nvSpPr>
        <p:spPr>
          <a:xfrm>
            <a:off x="9148081" y="1675739"/>
            <a:ext cx="2379644" cy="11604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Fact Table: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12 Columns</a:t>
            </a:r>
          </a:p>
          <a:p>
            <a:pPr marL="285750" indent="-285750" algn="ctr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altLang="en-US" sz="16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3510 Records</a:t>
            </a:r>
            <a:endParaRPr lang="en-US" altLang="en-US" sz="1600" dirty="0">
              <a:latin typeface="Amasis MT Pro Black" panose="02040A04050005020304" pitchFamily="18" charset="0"/>
            </a:endParaRP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9587587-6890-ACFF-EB09-2464AA3E9069}"/>
              </a:ext>
            </a:extLst>
          </p:cNvPr>
          <p:cNvSpPr txBox="1">
            <a:spLocks/>
          </p:cNvSpPr>
          <p:nvPr/>
        </p:nvSpPr>
        <p:spPr>
          <a:xfrm>
            <a:off x="9039262" y="1223682"/>
            <a:ext cx="2642699" cy="4404520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Table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D8214B-156B-BB2B-6BD5-8EACE2382E40}"/>
              </a:ext>
            </a:extLst>
          </p:cNvPr>
          <p:cNvSpPr/>
          <p:nvPr/>
        </p:nvSpPr>
        <p:spPr>
          <a:xfrm>
            <a:off x="9170789" y="2994765"/>
            <a:ext cx="2379644" cy="26334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accent5"/>
                </a:solidFill>
                <a:latin typeface="Amasis MT Pro Black" panose="02040A04050005020304" pitchFamily="18" charset="0"/>
              </a:rPr>
              <a:t>Key Fields: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Date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Units Sold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Total Sales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Discount Value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Net Sales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Profit</a:t>
            </a:r>
          </a:p>
          <a:p>
            <a:pPr marL="285750" indent="-285750" algn="just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en-US" sz="1400" dirty="0">
              <a:solidFill>
                <a:schemeClr val="accent3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85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737D-98BC-F7AF-DFAE-4978FCB6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84038527-636E-0058-8079-AFD5D78A4D8A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Methodology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46846708-1E0C-8739-F6A6-36422AAE43DD}"/>
              </a:ext>
            </a:extLst>
          </p:cNvPr>
          <p:cNvSpPr txBox="1">
            <a:spLocks/>
          </p:cNvSpPr>
          <p:nvPr/>
        </p:nvSpPr>
        <p:spPr>
          <a:xfrm>
            <a:off x="4576482" y="1379139"/>
            <a:ext cx="3406588" cy="4147602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Data Cleaning and Preparation</a:t>
            </a:r>
          </a:p>
          <a:p>
            <a:pPr algn="just"/>
            <a:r>
              <a:rPr lang="en-US" sz="2000" dirty="0"/>
              <a:t>The dataset was cleaned to ensure accuracy and consistency by:</a:t>
            </a:r>
          </a:p>
          <a:p>
            <a:pPr algn="just"/>
            <a:r>
              <a:rPr lang="en-US" sz="2000" dirty="0"/>
              <a:t>Removing duplicate records. </a:t>
            </a:r>
          </a:p>
          <a:p>
            <a:pPr algn="just"/>
            <a:r>
              <a:rPr lang="en-US" sz="2000" dirty="0"/>
              <a:t>Handling missing or incomplete values. </a:t>
            </a:r>
          </a:p>
          <a:p>
            <a:pPr algn="just"/>
            <a:r>
              <a:rPr lang="en-US" sz="2000" dirty="0"/>
              <a:t>Correcting datatype. </a:t>
            </a:r>
          </a:p>
          <a:p>
            <a:pPr algn="just"/>
            <a:r>
              <a:rPr lang="en-US" sz="2000" dirty="0"/>
              <a:t>Validating data quality and integrity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159AA83-F143-1360-9B70-D4990D7114AE}"/>
              </a:ext>
            </a:extLst>
          </p:cNvPr>
          <p:cNvSpPr txBox="1">
            <a:spLocks/>
          </p:cNvSpPr>
          <p:nvPr/>
        </p:nvSpPr>
        <p:spPr>
          <a:xfrm>
            <a:off x="914400" y="1379140"/>
            <a:ext cx="3406588" cy="3251131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Data Collection</a:t>
            </a:r>
          </a:p>
          <a:p>
            <a:pPr marL="0" indent="0" algn="just">
              <a:buNone/>
            </a:pPr>
            <a:r>
              <a:rPr lang="en-US" sz="2000" dirty="0"/>
              <a:t>Sales and promotional data were obtained from the company's transactional database, containing information on product sales, promotion categories, and sales periods.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91F285D-4376-BD67-0723-15616CF508E6}"/>
              </a:ext>
            </a:extLst>
          </p:cNvPr>
          <p:cNvSpPr txBox="1">
            <a:spLocks/>
          </p:cNvSpPr>
          <p:nvPr/>
        </p:nvSpPr>
        <p:spPr>
          <a:xfrm>
            <a:off x="8238564" y="1355199"/>
            <a:ext cx="3406588" cy="4147602"/>
          </a:xfrm>
          <a:prstGeom prst="rect">
            <a:avLst/>
          </a:prstGeom>
        </p:spPr>
        <p:txBody>
          <a:bodyPr numCol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Data Transformation</a:t>
            </a:r>
          </a:p>
          <a:p>
            <a:pPr marL="0" indent="0" algn="just">
              <a:buNone/>
            </a:pPr>
            <a:r>
              <a:rPr lang="en-US" sz="2000" dirty="0"/>
              <a:t>The cleaned data was transformed into a suitable format for analysis by creating calculated fields and key performance indicators (KPIs).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Interactive dashboards and visualizations were also created using analytical tools to answer the key questions.</a:t>
            </a:r>
          </a:p>
        </p:txBody>
      </p:sp>
    </p:spTree>
    <p:extLst>
      <p:ext uri="{BB962C8B-B14F-4D97-AF65-F5344CB8AC3E}">
        <p14:creationId xmlns:p14="http://schemas.microsoft.com/office/powerpoint/2010/main" val="7714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2A90-EE05-6B5C-C256-8366B2EA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A5343416-8CC0-7C1E-E8D3-873EA6C343D4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Visualization and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24960-B896-49C9-1B37-4B59B7192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971207"/>
            <a:ext cx="8716591" cy="4649664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C3B5611C-177E-2398-56C1-FAF22DA1EBE3}"/>
              </a:ext>
            </a:extLst>
          </p:cNvPr>
          <p:cNvSpPr txBox="1">
            <a:spLocks/>
          </p:cNvSpPr>
          <p:nvPr/>
        </p:nvSpPr>
        <p:spPr>
          <a:xfrm>
            <a:off x="2427192" y="5609742"/>
            <a:ext cx="7337613" cy="2770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5 Top-Bottom Analysis</a:t>
            </a:r>
          </a:p>
        </p:txBody>
      </p:sp>
    </p:spTree>
    <p:extLst>
      <p:ext uri="{BB962C8B-B14F-4D97-AF65-F5344CB8AC3E}">
        <p14:creationId xmlns:p14="http://schemas.microsoft.com/office/powerpoint/2010/main" val="254298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6F49-2D74-592F-45F4-55EF444F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C2FDBCA3-98DA-C79B-24DE-626C65AB4028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Visualization and Dashboard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6079D6C-7A0A-328D-58FE-5ACC12CB67E3}"/>
              </a:ext>
            </a:extLst>
          </p:cNvPr>
          <p:cNvSpPr txBox="1">
            <a:spLocks/>
          </p:cNvSpPr>
          <p:nvPr/>
        </p:nvSpPr>
        <p:spPr>
          <a:xfrm>
            <a:off x="2427192" y="5609742"/>
            <a:ext cx="7337613" cy="2770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Market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926FB-54AA-7868-4CA1-F637D6F52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995023"/>
            <a:ext cx="8668960" cy="461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7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B39C-316D-1F30-3686-223C4E4D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19DABE7-BC43-A6DC-A184-F719A6AF1FAE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Visualization and Dashboard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25714E80-34AC-0544-9B92-0BB0AE76F69F}"/>
              </a:ext>
            </a:extLst>
          </p:cNvPr>
          <p:cNvSpPr txBox="1">
            <a:spLocks/>
          </p:cNvSpPr>
          <p:nvPr/>
        </p:nvSpPr>
        <p:spPr>
          <a:xfrm>
            <a:off x="2427192" y="5609742"/>
            <a:ext cx="7337613" cy="2770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Market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E52E7-3C50-04F7-D1D9-D28763704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980733"/>
            <a:ext cx="8716591" cy="46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1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7F0C-A08B-0D65-3491-A1EA4725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E3D1E2C-48B8-2CC2-99B3-4D4FD6FC6D71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Visualization and Dashboard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0DA883B5-4535-A7FD-8979-94882DD270D1}"/>
              </a:ext>
            </a:extLst>
          </p:cNvPr>
          <p:cNvSpPr txBox="1">
            <a:spLocks/>
          </p:cNvSpPr>
          <p:nvPr/>
        </p:nvSpPr>
        <p:spPr>
          <a:xfrm>
            <a:off x="2427192" y="5609742"/>
            <a:ext cx="7337613" cy="2770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Market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81C64-16E1-2F41-0FAA-18FF2665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39" y="1169894"/>
            <a:ext cx="9686822" cy="31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61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AE72-3B46-537D-5A74-90A05DF6B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BEB4D66-0476-BF79-78E3-9644695BE872}"/>
              </a:ext>
            </a:extLst>
          </p:cNvPr>
          <p:cNvSpPr txBox="1">
            <a:spLocks/>
          </p:cNvSpPr>
          <p:nvPr/>
        </p:nvSpPr>
        <p:spPr>
          <a:xfrm>
            <a:off x="762000" y="281159"/>
            <a:ext cx="10668000" cy="79011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dirty="0">
                <a:latin typeface="Amasis MT Pro Black" panose="02040A04050005020304" pitchFamily="18" charset="0"/>
              </a:rPr>
              <a:t>Visualization and Dashboard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B7BFCEEC-C6E0-25AE-E599-3EE4924C0517}"/>
              </a:ext>
            </a:extLst>
          </p:cNvPr>
          <p:cNvSpPr txBox="1">
            <a:spLocks/>
          </p:cNvSpPr>
          <p:nvPr/>
        </p:nvSpPr>
        <p:spPr>
          <a:xfrm>
            <a:off x="2427192" y="5609742"/>
            <a:ext cx="7337613" cy="27705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dirty="0">
                <a:solidFill>
                  <a:schemeClr val="accent3"/>
                </a:solidFill>
                <a:latin typeface="Amasis MT Pro Black" panose="02040A04050005020304" pitchFamily="18" charset="0"/>
              </a:rPr>
              <a:t>Market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DD5F4-F44F-93CD-156D-E47F92E3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999786"/>
            <a:ext cx="8735644" cy="460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2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1A1A-124E-5BAB-5F43-00644B1B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D17D6B-2CAC-F7D3-2B92-CFD34174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790110"/>
          </a:xfrm>
        </p:spPr>
        <p:txBody>
          <a:bodyPr/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Key Insight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68A4D5-6F05-FAB3-AFB3-86EEB1A63D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3635"/>
            <a:ext cx="6477000" cy="439840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Promotional campaigns significantly boosted sales performance.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There is more profit margin on electronics products compare to any other products.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The least demand product is personal care products.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There is always peak sales at 4th quarter of the year.</a:t>
            </a:r>
          </a:p>
        </p:txBody>
      </p:sp>
    </p:spTree>
    <p:extLst>
      <p:ext uri="{BB962C8B-B14F-4D97-AF65-F5344CB8AC3E}">
        <p14:creationId xmlns:p14="http://schemas.microsoft.com/office/powerpoint/2010/main" val="169330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DDCA-9C46-94CD-574E-31116DA4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B81D3F-BAE2-B957-8837-0A0AB5A2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790110"/>
          </a:xfrm>
        </p:spPr>
        <p:txBody>
          <a:bodyPr/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Conclusion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C5A8C2-8DB2-E555-19B3-8F78C4DE40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3635"/>
            <a:ext cx="6477000" cy="46840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The analysis shows that promotional campaigns were highly effective in driving sales growth across the cities. Electronics products consistently outperformed all other products in revenue generated; therefore, the business should continue leveraging on promotions, prioritize high-performing products electronics, clothing and home appliances and strategically prepare for increased demand during the fourth quarter to maximize sales and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34287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31CC-6B2E-8A70-544B-84160924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C692D3-E29A-92D2-1B40-B6809582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790110"/>
          </a:xfrm>
        </p:spPr>
        <p:txBody>
          <a:bodyPr/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Tool Used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B2DA30-C1D1-0D71-9E63-EDB140FE99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3635"/>
            <a:ext cx="6477000" cy="468405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Power Bi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Dashboard Design Technique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Slicer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Chart Map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Card</a:t>
            </a:r>
          </a:p>
        </p:txBody>
      </p:sp>
    </p:spTree>
    <p:extLst>
      <p:ext uri="{BB962C8B-B14F-4D97-AF65-F5344CB8AC3E}">
        <p14:creationId xmlns:p14="http://schemas.microsoft.com/office/powerpoint/2010/main" val="1417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D694-0404-B8E1-34AE-CC63C351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06B228-D874-64E4-921E-C29DE41E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129" y="2894384"/>
            <a:ext cx="6477000" cy="790110"/>
          </a:xfrm>
        </p:spPr>
        <p:txBody>
          <a:bodyPr/>
          <a:lstStyle/>
          <a:p>
            <a:pPr algn="ctr"/>
            <a:r>
              <a:rPr lang="en-US" dirty="0">
                <a:latin typeface="Amasis MT Pro Black" panose="02040A040500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4899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rish American">
      <a:dk1>
        <a:sysClr val="windowText" lastClr="000000"/>
      </a:dk1>
      <a:lt1>
        <a:sysClr val="window" lastClr="FFFFFF"/>
      </a:lt1>
      <a:dk2>
        <a:srgbClr val="44546A"/>
      </a:dk2>
      <a:lt2>
        <a:srgbClr val="D8D8D8"/>
      </a:lt2>
      <a:accent1>
        <a:srgbClr val="8FB399"/>
      </a:accent1>
      <a:accent2>
        <a:srgbClr val="FFA701"/>
      </a:accent2>
      <a:accent3>
        <a:srgbClr val="487629"/>
      </a:accent3>
      <a:accent4>
        <a:srgbClr val="90BF49"/>
      </a:accent4>
      <a:accent5>
        <a:srgbClr val="F18A00"/>
      </a:accent5>
      <a:accent6>
        <a:srgbClr val="E7E6E6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rish American Heritage Month_Win32_JC_SL_v3" id="{052E7C4F-5666-46F9-8570-A41CD646D6ED}" vid="{C61524F8-A95A-4D9D-91CE-A1A473CEC11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E4CD556-5EC4-4BCF-B082-619EFABCAB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569EAA-BB78-4E44-AC8A-A498FF9EE5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8790B1-FC4B-4DAC-835B-3ECE0F87E01F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Irish American Heritage Month presentation</Template>
  <TotalTime>337</TotalTime>
  <Words>589</Words>
  <Application>Microsoft Office PowerPoint</Application>
  <PresentationFormat>Widescreen</PresentationFormat>
  <Paragraphs>108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Amasis MT Pro Black</vt:lpstr>
      <vt:lpstr>Arial</vt:lpstr>
      <vt:lpstr>Wingdings</vt:lpstr>
      <vt:lpstr>Office Theme</vt:lpstr>
      <vt:lpstr>D.A.C DATASTORE </vt:lpstr>
      <vt:lpstr>Introduction</vt:lpstr>
      <vt:lpstr>Problem Statement</vt:lpstr>
      <vt:lpstr>Key Questions to Answer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</vt:lpstr>
      <vt:lpstr>Conclusion</vt:lpstr>
      <vt:lpstr>Tool Used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oginni adekola</dc:creator>
  <cp:keywords/>
  <dc:description/>
  <cp:lastModifiedBy>oginni adekola</cp:lastModifiedBy>
  <cp:revision>17</cp:revision>
  <dcterms:created xsi:type="dcterms:W3CDTF">2026-06-25T08:49:04Z</dcterms:created>
  <dcterms:modified xsi:type="dcterms:W3CDTF">2026-06-25T14:26:44Z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